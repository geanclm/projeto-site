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52E0C1"/>
          </a:solidFill>
          <a:ln w="12700">
            <a:solidFill>
              <a:srgbClr val="52E0C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5624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738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/ LAB  ·  SNAPSHOT 09 OUT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583680" y="655624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50" kern="0" dirty="0">
                <a:solidFill>
                  <a:srgbClr val="738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DO ARQUIVO FORNECIDO · NÃO É COTAÇÃO AO VIVO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594360"/>
            <a:ext cx="4160520" cy="5303520"/>
          </a:xfrm>
          <a:prstGeom prst="roundRect">
            <a:avLst>
              <a:gd name="adj" fmla="val 2198"/>
            </a:avLst>
          </a:prstGeom>
          <a:solidFill>
            <a:srgbClr val="0D1D2B"/>
          </a:solidFill>
          <a:ln w="10160">
            <a:solidFill>
              <a:srgbClr val="213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1234440"/>
            <a:ext cx="2834640" cy="2834640"/>
          </a:xfrm>
          <a:prstGeom prst="ellipse">
            <a:avLst/>
          </a:prstGeom>
          <a:solidFill>
            <a:srgbClr val="08111E">
              <a:alpha val="0"/>
            </a:srgbClr>
          </a:solidFill>
          <a:ln w="12700">
            <a:solidFill>
              <a:srgbClr val="52E0C1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36408" y="978408"/>
            <a:ext cx="3346704" cy="3346704"/>
          </a:xfrm>
          <a:prstGeom prst="ellipse">
            <a:avLst/>
          </a:prstGeom>
          <a:solidFill>
            <a:srgbClr val="08111E">
              <a:alpha val="0"/>
            </a:srgbClr>
          </a:solidFill>
          <a:ln w="12700">
            <a:solidFill>
              <a:srgbClr val="52E0C1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0376" y="722376"/>
            <a:ext cx="3858768" cy="3858768"/>
          </a:xfrm>
          <a:prstGeom prst="ellipse">
            <a:avLst/>
          </a:prstGeom>
          <a:solidFill>
            <a:srgbClr val="08111E">
              <a:alpha val="0"/>
            </a:srgbClr>
          </a:solidFill>
          <a:ln w="12700">
            <a:solidFill>
              <a:srgbClr val="52E0C1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2377440"/>
            <a:ext cx="2167128" cy="868680"/>
          </a:xfrm>
          <a:prstGeom prst="line">
            <a:avLst/>
          </a:prstGeom>
          <a:noFill/>
          <a:ln w="16510">
            <a:solidFill>
              <a:srgbClr val="52E0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657600"/>
            <a:ext cx="1920240" cy="-1417320"/>
          </a:xfrm>
          <a:prstGeom prst="line">
            <a:avLst/>
          </a:prstGeom>
          <a:noFill/>
          <a:ln w="15240">
            <a:solidFill>
              <a:srgbClr val="7BA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3520440"/>
            <a:ext cx="2103120" cy="320040"/>
          </a:xfrm>
          <a:prstGeom prst="line">
            <a:avLst/>
          </a:prstGeom>
          <a:noFill/>
          <a:ln w="13970">
            <a:solidFill>
              <a:srgbClr val="F3C8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39328" y="2322576"/>
            <a:ext cx="109728" cy="109728"/>
          </a:xfrm>
          <a:prstGeom prst="ellipse">
            <a:avLst/>
          </a:prstGeom>
          <a:solidFill>
            <a:srgbClr val="52E0C1"/>
          </a:solidFill>
          <a:ln w="12700">
            <a:solidFill>
              <a:srgbClr val="52E0C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06456" y="3191256"/>
            <a:ext cx="109728" cy="109728"/>
          </a:xfrm>
          <a:prstGeom prst="ellipse">
            <a:avLst/>
          </a:prstGeom>
          <a:solidFill>
            <a:srgbClr val="52E0C1"/>
          </a:solidFill>
          <a:ln w="12700">
            <a:solidFill>
              <a:srgbClr val="52E0C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602736"/>
            <a:ext cx="109728" cy="109728"/>
          </a:xfrm>
          <a:prstGeom prst="ellipse">
            <a:avLst/>
          </a:prstGeom>
          <a:solidFill>
            <a:srgbClr val="7BAAFF"/>
          </a:solidFill>
          <a:ln w="12700">
            <a:solidFill>
              <a:srgbClr val="7BAA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52176" y="2185416"/>
            <a:ext cx="109728" cy="109728"/>
          </a:xfrm>
          <a:prstGeom prst="ellipse">
            <a:avLst/>
          </a:prstGeom>
          <a:solidFill>
            <a:srgbClr val="7BAAFF"/>
          </a:solidFill>
          <a:ln w="12700">
            <a:solidFill>
              <a:srgbClr val="7BAA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3465576"/>
            <a:ext cx="109728" cy="109728"/>
          </a:xfrm>
          <a:prstGeom prst="ellipse">
            <a:avLst/>
          </a:prstGeom>
          <a:solidFill>
            <a:srgbClr val="F3C879"/>
          </a:solidFill>
          <a:ln w="12700">
            <a:solidFill>
              <a:srgbClr val="F3C87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52176" y="3785616"/>
            <a:ext cx="109728" cy="109728"/>
          </a:xfrm>
          <a:prstGeom prst="ellipse">
            <a:avLst/>
          </a:prstGeom>
          <a:solidFill>
            <a:srgbClr val="F3C879"/>
          </a:solidFill>
          <a:ln w="12700">
            <a:solidFill>
              <a:srgbClr val="F3C87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804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/ LAB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1417320"/>
            <a:ext cx="6675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cenário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um snapshot.</a:t>
            </a:r>
            <a:endParaRPr lang="en-US" sz="370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9C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 executivo de mercados, macroeconomia e ativos digitais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800" y="4050792"/>
            <a:ext cx="4663440" cy="0"/>
          </a:xfrm>
          <a:prstGeom prst="line">
            <a:avLst/>
          </a:prstGeom>
          <a:noFill/>
          <a:ln w="16510">
            <a:solidFill>
              <a:srgbClr val="28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793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OUTUBRO 2026  ·  12:48 BRT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736592"/>
            <a:ext cx="1325880" cy="274320"/>
          </a:xfrm>
          <a:prstGeom prst="roundRect">
            <a:avLst>
              <a:gd name="adj" fmla="val 33333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754880"/>
            <a:ext cx="1179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REGISTROS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39696" y="4736592"/>
            <a:ext cx="1124712" cy="274320"/>
          </a:xfrm>
          <a:prstGeom prst="roundRect">
            <a:avLst>
              <a:gd name="adj" fmla="val 33333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12848" y="475488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GRUPOS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92424" y="4736592"/>
            <a:ext cx="1078992" cy="274320"/>
          </a:xfrm>
          <a:prstGeom prst="roundRect">
            <a:avLst>
              <a:gd name="adj" fmla="val 33333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4754880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SLIDES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 primária: df_indicadores_09_10_2026_12h48m25s18.md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ESCOPO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esta leitura cobre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retrato integrado da base fornecida — não uma atualização de mercado.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1755648" cy="1005840"/>
          </a:xfrm>
          <a:prstGeom prst="roundRect">
            <a:avLst>
              <a:gd name="adj" fmla="val 9091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482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8952" y="234086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8952" y="252374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do arquivo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901952"/>
            <a:ext cx="1755648" cy="1005840"/>
          </a:xfrm>
          <a:prstGeom prst="roundRect">
            <a:avLst>
              <a:gd name="adj" fmla="val 9091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20482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GRUPOS TEMÁTICOS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52344" y="234086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752344" y="252374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do arquivo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1901952"/>
            <a:ext cx="1755648" cy="1005840"/>
          </a:xfrm>
          <a:prstGeom prst="roundRect">
            <a:avLst>
              <a:gd name="adj" fmla="val 9091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0482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DO SNAPSHOT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45736" y="234086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09/10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745736" y="252374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do arquivo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874520"/>
            <a:ext cx="4572000" cy="3218688"/>
          </a:xfrm>
          <a:prstGeom prst="roundRect">
            <a:avLst>
              <a:gd name="adj" fmla="val 2841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1396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DIMENSÕES OBSERVADAS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2578608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555748"/>
            <a:ext cx="3657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Mercados globais e Treasuries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42048" y="3111246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3088386"/>
            <a:ext cx="3657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Câmbio, juros e atividade no Brasil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42048" y="3643884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0648" y="3621024"/>
            <a:ext cx="3657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Ações, commodities e criptoativos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42048" y="4176522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4153662"/>
            <a:ext cx="3657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Tecnologia, rankings e benchmarks de IA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valores são preservados como recebidos; a narrativa separa observação, cálculo e hipótese.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MENSAGEM CENTRAL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Sinais construtivos coexistem com restrições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leitura conjunta é mista: evitar uma classificação única de “risk-on” ou “risk-off”.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3401568" cy="2651760"/>
          </a:xfrm>
          <a:prstGeom prst="roundRect">
            <a:avLst>
              <a:gd name="adj" fmla="val 3448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219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670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Ações dos EUA e Ibovespa avançam; VIX recua.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favorecem uma leitura de menor tensão no instante.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993392"/>
            <a:ext cx="3401568" cy="2651760"/>
          </a:xfrm>
          <a:prstGeom prst="roundRect">
            <a:avLst>
              <a:gd name="adj" fmla="val 3448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22219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B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98848" y="2670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98848" y="297180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10Y em 5,26%, com variação positiva.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taxa longa continua relevante para condições financeiras.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1993392"/>
            <a:ext cx="3401568" cy="2651760"/>
          </a:xfrm>
          <a:prstGeom prst="roundRect">
            <a:avLst>
              <a:gd name="adj" fmla="val 3448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22219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3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02168" y="2670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ATIVOS REAIS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02168" y="297180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Metais sobem e moedas estrangeiras recuam frente ao real.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02168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sinais setoriais não são uniformes e exigem contexto.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snapshot funciona como radar de hipóteses, não como evidência suficiente para decisões isoladas.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MERCADOS GLOBAIS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Ações sobem; volatilidade implícita cede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três índices acionários são positivos na variação reportada.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617720" cy="786384"/>
          </a:xfrm>
          <a:prstGeom prst="roundRect">
            <a:avLst>
              <a:gd name="adj" fmla="val 11628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75104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500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7.798,15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+0,42%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4617720" cy="786384"/>
          </a:xfrm>
          <a:prstGeom prst="roundRect">
            <a:avLst>
              <a:gd name="adj" fmla="val 11628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935224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NASDAQ COMPOSITE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3227832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31.065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04672" y="3191256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+0,31%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617720" cy="786384"/>
          </a:xfrm>
          <a:prstGeom prst="roundRect">
            <a:avLst>
              <a:gd name="adj" fmla="val 11628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95344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 JONES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" y="4187952"/>
            <a:ext cx="4288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51.482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04672" y="4151376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+0,49%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1828800"/>
            <a:ext cx="5669280" cy="3154680"/>
          </a:xfrm>
          <a:prstGeom prst="roundRect">
            <a:avLst>
              <a:gd name="adj" fmla="val 2899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1214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VIX · ÍNDICE DE VOLATILIDADE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53328" y="2670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14,91</a:t>
            </a:r>
            <a:endParaRPr lang="en-US" sz="4100" dirty="0"/>
          </a:p>
        </p:txBody>
      </p:sp>
      <p:sp>
        <p:nvSpPr>
          <p:cNvPr id="20" name="Text 18"/>
          <p:cNvSpPr/>
          <p:nvPr/>
        </p:nvSpPr>
        <p:spPr>
          <a:xfrm>
            <a:off x="608076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−3,24%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80760" y="40599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informado: “Baixa Volatilidade”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 em alta e VIX em queda descrevem o recorte observado, sem prever direção futura.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TAXAS DOS EUA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curva abre, com juro longo em nível elevado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10Y–2Y positivo no snapshot; a interpretação macro requer séries e contexto.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240280" cy="1097280"/>
          </a:xfrm>
          <a:prstGeom prst="roundRect">
            <a:avLst>
              <a:gd name="adj" fmla="val 833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 FUNDS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4,00%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+0,25%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72384" y="1828800"/>
            <a:ext cx="2240280" cy="1097280"/>
          </a:xfrm>
          <a:prstGeom prst="roundRect">
            <a:avLst>
              <a:gd name="adj" fmla="val 833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197510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2Y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6976" y="22677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4,77%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236976" y="254203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−0,42%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828800"/>
            <a:ext cx="2240280" cy="1097280"/>
          </a:xfrm>
          <a:prstGeom prst="roundRect">
            <a:avLst>
              <a:gd name="adj" fmla="val 833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97510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10Y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50992" y="22677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5,26%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650992" y="254203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+0,61%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00416" y="1828800"/>
            <a:ext cx="2240280" cy="1097280"/>
          </a:xfrm>
          <a:prstGeom prst="roundRect">
            <a:avLst>
              <a:gd name="adj" fmla="val 833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197510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10Y–2Y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65008" y="22677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0,51 p.p.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065008" y="254203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+6,25%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364992"/>
            <a:ext cx="10881360" cy="1572768"/>
          </a:xfrm>
          <a:prstGeom prst="roundRect">
            <a:avLst>
              <a:gd name="adj" fmla="val 5814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DA CURVA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3040" y="4389120"/>
            <a:ext cx="9144000" cy="0"/>
          </a:xfrm>
          <a:prstGeom prst="line">
            <a:avLst/>
          </a:prstGeom>
          <a:noFill/>
          <a:ln w="25400">
            <a:solidFill>
              <a:srgbClr val="3C4B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4251960"/>
            <a:ext cx="4297680" cy="0"/>
          </a:xfrm>
          <a:prstGeom prst="line">
            <a:avLst/>
          </a:prstGeom>
          <a:noFill/>
          <a:ln w="38100">
            <a:solidFill>
              <a:srgbClr val="52E0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4169664"/>
            <a:ext cx="164592" cy="164592"/>
          </a:xfrm>
          <a:prstGeom prst="ellipse">
            <a:avLst/>
          </a:prstGeom>
          <a:solidFill>
            <a:srgbClr val="7BAAFF"/>
          </a:solidFill>
          <a:ln w="12700">
            <a:solidFill>
              <a:srgbClr val="7BAA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5008" y="4169664"/>
            <a:ext cx="164592" cy="164592"/>
          </a:xfrm>
          <a:prstGeom prst="ellipse">
            <a:avLst/>
          </a:prstGeom>
          <a:solidFill>
            <a:srgbClr val="52E0C1"/>
          </a:solidFill>
          <a:ln w="12700">
            <a:solidFill>
              <a:srgbClr val="52E0C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385876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2Y · 4,77%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85876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10Y · 5,26%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 positiva é apenas uma dimensão: não comprova expansão econômica saudável por si só.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INFRAESTRUTURA DE 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empresas da cadeia tecnológica divergem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Variações informadas para os emissores selecionados no snapshot.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086600" cy="3977640"/>
          </a:xfrm>
          <a:prstGeom prst="roundRect">
            <a:avLst>
              <a:gd name="adj" fmla="val 2299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NVIDIA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2498141"/>
            <a:ext cx="385876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2498141"/>
            <a:ext cx="114844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76272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+0,10%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61488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TSMC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083357"/>
            <a:ext cx="385876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083357"/>
            <a:ext cx="1676727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761488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-1,46%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346704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3668573"/>
            <a:ext cx="385876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3668573"/>
            <a:ext cx="1366647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346704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+1,19%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4253789"/>
            <a:ext cx="385876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4253789"/>
            <a:ext cx="1975322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931920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+1,72%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517136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CXMT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4839005"/>
            <a:ext cx="385876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4839005"/>
            <a:ext cx="3858768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517136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+3,36%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111496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58B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Comprimento = magnitude absoluta · cor indica o sinal · variação conforme registrada na base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046720" y="178308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057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 PADRÃO DIZ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21040" y="2542032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519172"/>
            <a:ext cx="25146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CXMT apresenta a maior variação positiva neste conjunto.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3313176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290316"/>
            <a:ext cx="25146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TSMC é negativa; NVIDIA está próxima de zero.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4084320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4061460"/>
            <a:ext cx="25146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amostra é pequena e as empresas têm papéis diferentes na cadeia.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atribuir desempenho uniforme ao tema “IA” a partir de poucas ações selecionadas.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CÂMBIO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Moedas estrangeiras recuam frente ao real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de câmbio e DXY pertencem a referências diferentes.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949440" cy="3520440"/>
          </a:xfrm>
          <a:prstGeom prst="roundRect">
            <a:avLst>
              <a:gd name="adj" fmla="val 2597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67712"/>
            <a:ext cx="16916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Dólar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2614727"/>
            <a:ext cx="367588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2614727"/>
            <a:ext cx="2072869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267712"/>
            <a:ext cx="868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-0,75%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898648"/>
            <a:ext cx="16916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3245663"/>
            <a:ext cx="367588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3245663"/>
            <a:ext cx="2266337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898648"/>
            <a:ext cx="868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-0,82%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529584"/>
            <a:ext cx="16916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3876599"/>
            <a:ext cx="367588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3876599"/>
            <a:ext cx="1575381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29584"/>
            <a:ext cx="868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-0,57%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16916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4507535"/>
            <a:ext cx="367588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4507535"/>
            <a:ext cx="3675888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160520"/>
            <a:ext cx="868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-1,33%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800600"/>
            <a:ext cx="6309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58B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Comprimento = magnitude absoluta · cor indica o sinal · variação conforme registrada na base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955280" y="182880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197510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DXY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19872" y="2267712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102,28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119872" y="267919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+0,13%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55280" y="3346704"/>
            <a:ext cx="3429000" cy="1993392"/>
          </a:xfrm>
          <a:prstGeom prst="roundRect">
            <a:avLst>
              <a:gd name="adj" fmla="val 4587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611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3977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5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DXY mede uma cesta cambial; dólar/real mede um par específico. Os sinais podem divergir sem contradição.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variação cambial só ganha significado com janela temporal, unidade e par de referência explícitos.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MACROECONOMIA BRASILEIRA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Juros nominais elevados; índices de preços pedem contexto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do snapshot — manter periodicidades explícitas.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37560" cy="1078992"/>
          </a:xfrm>
          <a:prstGeom prst="roundRect">
            <a:avLst>
              <a:gd name="adj" fmla="val 847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751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13,75% a.a.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04672" y="25237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−1,79%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337560" cy="1078992"/>
          </a:xfrm>
          <a:prstGeom prst="roundRect">
            <a:avLst>
              <a:gd name="adj" fmla="val 847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9751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62272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13,65% a.a.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462272" y="25237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337560" cy="1078992"/>
          </a:xfrm>
          <a:prstGeom prst="roundRect">
            <a:avLst>
              <a:gd name="adj" fmla="val 847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19751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IPCA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19872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4,58% a.a.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119872" y="25237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+8,53%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3337560" cy="1078992"/>
          </a:xfrm>
          <a:prstGeom prst="roundRect">
            <a:avLst>
              <a:gd name="adj" fmla="val 847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30098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IGP-M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" y="359359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1,57% a.m.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04672" y="3849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+1,79%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3154680"/>
            <a:ext cx="3337560" cy="1078992"/>
          </a:xfrm>
          <a:prstGeom prst="roundRect">
            <a:avLst>
              <a:gd name="adj" fmla="val 847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330098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JURO REAL INFORMADO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62272" y="359359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8,67% a.a.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4462272" y="3849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55280" y="443484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392C1A"/>
          </a:solidFill>
          <a:ln w="10160">
            <a:solidFill>
              <a:srgbClr val="7355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590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3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CHECAGEM MATEMÁTICA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8388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Fisher (13,75%; 4,58%) ≈ 8,77%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fórmula, periodicidade e janela: o juro real informado (8,67%) difere ~0,10 p.p. do cálculo de Fisher com os valores exibidos.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ATIVIDADE E FISCAL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positiva no retrato; dívida precisa de contexto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números resumem dimensões diferentes da economia brasileira.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337560" cy="1481328"/>
          </a:xfrm>
          <a:prstGeom prst="roundRect">
            <a:avLst>
              <a:gd name="adj" fmla="val 617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6654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IBC-BR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114,4 pts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+4,06%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337560" cy="1481328"/>
          </a:xfrm>
          <a:prstGeom prst="roundRect">
            <a:avLst>
              <a:gd name="adj" fmla="val 617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06654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PIB · VALORES CORRENTES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99432" y="235915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R$ 3,43 tri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599432" y="30175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2º trimestre de 2026 · +5,38%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11312" y="1920240"/>
            <a:ext cx="3337560" cy="1481328"/>
          </a:xfrm>
          <a:prstGeom prst="roundRect">
            <a:avLst>
              <a:gd name="adj" fmla="val 617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206654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DLSP · VALOR ABSOLUTO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75904" y="235915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R$ 8,2 tri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375904" y="30175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referência: ago/2026 · +1,24%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96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CONFUNDIR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4005072"/>
            <a:ext cx="8366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coluna de variação não informa em todas as linhas se o horizonte é mensal, trimestral ou anual. Não transforme automaticamente esses valores em “crescimento anual”.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Metadados de período e metodologia são necessários antes de inferir aceleração econômica ou sustentabilidade fiscal.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MERCADO BRASILEIRO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Ibovespa avança; IFIX fica estável no recorte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mercado local mostra sinais positivos em alguns instrumentos, mas um snapshot não confirma tendência.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6766560" cy="649224"/>
          </a:xfrm>
          <a:prstGeom prst="roundRect">
            <a:avLst>
              <a:gd name="adj" fmla="val 1408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4767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Ibovespa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94767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209.497 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9476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+1,59%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6766560" cy="649224"/>
          </a:xfrm>
          <a:prstGeom prst="roundRect">
            <a:avLst>
              <a:gd name="adj" fmla="val 1408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7063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706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3.980,1 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77063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6766560" cy="649224"/>
          </a:xfrm>
          <a:prstGeom prst="roundRect">
            <a:avLst>
              <a:gd name="adj" fmla="val 1408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9359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XFIX11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59359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R$ 14,03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59359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B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+0,57%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343400"/>
            <a:ext cx="6766560" cy="649224"/>
          </a:xfrm>
          <a:prstGeom prst="roundRect">
            <a:avLst>
              <a:gd name="adj" fmla="val 14085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165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IMA-B / IMAB11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441655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R$ 125,28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441655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+1,06%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1874520"/>
            <a:ext cx="3611880" cy="3136392"/>
          </a:xfrm>
          <a:prstGeom prst="roundRect">
            <a:avLst>
              <a:gd name="adj" fmla="val 2915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19872" y="2606040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48472" y="2583180"/>
            <a:ext cx="2514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Ibovespa: variação positiva na base.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19872" y="3138678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3115818"/>
            <a:ext cx="2514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IFIX: variação reportada zero.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19872" y="3671316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3648456"/>
            <a:ext cx="2514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IMA-B: fonte indicada como ETF IMAB11 (Yahoo Finance).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9872" y="4203954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8472" y="4181094"/>
            <a:ext cx="251460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cota, índice replicado e horário de referência antes de comparar.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Manter a distinção entre índice, ETF proxy e preço por cota na modelagem do projeto Indicadores.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COMMODITIES &amp; CLIMA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Metais em alta; energia e clima merecem acompanhamento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Variações da base para commodities selecionadas; ONI é uma medida climática em °C.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7086600" cy="3886200"/>
          </a:xfrm>
          <a:prstGeom prst="roundRect">
            <a:avLst>
              <a:gd name="adj" fmla="val 235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03120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42616" y="2314346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42616" y="2314346"/>
            <a:ext cx="401151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096" y="2103120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+0,46%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2487168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42616" y="2698394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2698394"/>
            <a:ext cx="2284815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487168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+2,62%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2871216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42616" y="3082442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2616" y="3082442"/>
            <a:ext cx="1168569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2871216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+1,34%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3255264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42616" y="3466490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42616" y="3466490"/>
            <a:ext cx="3113278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255264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+3,57%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3639312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Platina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42616" y="3850538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42616" y="3850538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6" y="3639312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+4,32%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0976" y="4023360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Soja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42616" y="4234586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42616" y="4234586"/>
            <a:ext cx="409871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4023360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+0,47%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0976" y="4407408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Açúcar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42616" y="4618634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42616" y="4618634"/>
            <a:ext cx="479637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4407408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+0,55%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0976" y="4791456"/>
            <a:ext cx="16916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Baltic Dry Index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42616" y="5002682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42616" y="5002682"/>
            <a:ext cx="610447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3096" y="4791456"/>
            <a:ext cx="868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-0,70%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0976" y="5184648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58B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Comprimento = magnitude absoluta · cor indica o sinal · variação conforme registrada na base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028432" y="1828800"/>
            <a:ext cx="3364992" cy="1207008"/>
          </a:xfrm>
          <a:prstGeom prst="roundRect">
            <a:avLst>
              <a:gd name="adj" fmla="val 7576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197510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93024" y="22677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US$ 104,76/bbl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8193024" y="265176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+0,46%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28432" y="3246120"/>
            <a:ext cx="3364992" cy="1207008"/>
          </a:xfrm>
          <a:prstGeom prst="roundRect">
            <a:avLst>
              <a:gd name="adj" fmla="val 7576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93024" y="339242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OCEANIC NIÑO INDEX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93024" y="368503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+1,5 °C</a:t>
            </a:r>
            <a:endParaRPr lang="en-US" sz="2300" dirty="0"/>
          </a:p>
        </p:txBody>
      </p:sp>
      <p:sp>
        <p:nvSpPr>
          <p:cNvPr id="46" name="Text 44"/>
          <p:cNvSpPr/>
          <p:nvPr/>
        </p:nvSpPr>
        <p:spPr>
          <a:xfrm>
            <a:off x="8193024" y="406908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+0,49%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28432" y="4663440"/>
            <a:ext cx="3364992" cy="987552"/>
          </a:xfrm>
          <a:prstGeom prst="roundRect">
            <a:avLst>
              <a:gd name="adj" fmla="val 9259"/>
            </a:avLst>
          </a:prstGeom>
          <a:solidFill>
            <a:srgbClr val="34271B"/>
          </a:solidFill>
          <a:ln w="10160">
            <a:solidFill>
              <a:srgbClr val="6E51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480060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3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HIPÓTESE A MONITORAR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50566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5D2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Possível pressão em custos: validar com dados e defasagens.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conjunto sugere uma pauta de monitoramento, não prova por si só uma onda inflacionária ou relação causal.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CRIPTOATIVOS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preços sobem, mas seguem abaixo das EMAs citadas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 da distância percentual feito a partir dos preços e referências registrados no arquivo.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BITCOIN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US$ 82.890,90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+1,49%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751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EMA7 D−1 · BTC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99432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A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US$ 83.952,66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599432" y="2679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distância ≈ −1,26%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11312" y="182880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751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75904" y="226771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2E0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US$ 2.488,51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375904" y="267919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+0,67%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212080" cy="1389888"/>
          </a:xfrm>
          <a:prstGeom prst="roundRect">
            <a:avLst>
              <a:gd name="adj" fmla="val 6579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8561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 · REFERÊNCIA EMA7 D−1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133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B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US$ 2.618,31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83280" y="4169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distância ≈ −4,96%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376672" cy="1389888"/>
          </a:xfrm>
          <a:prstGeom prst="roundRect">
            <a:avLst>
              <a:gd name="adj" fmla="val 6579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767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na variação registrada e preço abaixo da média curta podem coexistir: uma é variação de período; a outra, posição frente à referência.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converter um único snapshot em recomendação de compra, venda ou timing de mercado.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EMPRESAS &amp; FINTECH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 Holdings lidera as variações deste grupo selecionado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Valores, moedas e cotações são os informados na fonte; comparabilidade temporal deve ser validada.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7040880" cy="3703320"/>
          </a:xfrm>
          <a:prstGeom prst="roundRect">
            <a:avLst>
              <a:gd name="adj" fmla="val 2469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94560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 Holdings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42616" y="2516429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42616" y="2516429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096" y="2194560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+4,06%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2779776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42616" y="3101645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3101645"/>
            <a:ext cx="2004293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779776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+2,16%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3364992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MercadoLibre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42616" y="3686861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2616" y="3686861"/>
            <a:ext cx="751610" cy="96012"/>
          </a:xfrm>
          <a:prstGeom prst="roundRect">
            <a:avLst>
              <a:gd name="adj" fmla="val 95238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3364992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+0,81%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3950208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Saudi Aramco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42616" y="4272077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42616" y="4272077"/>
            <a:ext cx="361886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950208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-0,39%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4535424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8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Reliance Industries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42616" y="4857293"/>
            <a:ext cx="3767328" cy="96012"/>
          </a:xfrm>
          <a:prstGeom prst="roundRect">
            <a:avLst>
              <a:gd name="adj" fmla="val 95238"/>
            </a:avLst>
          </a:prstGeom>
          <a:solidFill>
            <a:srgbClr val="263549"/>
          </a:solidFill>
          <a:ln w="10160">
            <a:solidFill>
              <a:srgbClr val="2635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42616" y="4857293"/>
            <a:ext cx="603144" cy="96012"/>
          </a:xfrm>
          <a:prstGeom prst="roundRect">
            <a:avLst>
              <a:gd name="adj" fmla="val 95238"/>
            </a:avLst>
          </a:prstGeom>
          <a:solidFill>
            <a:srgbClr val="FF7B8A"/>
          </a:solidFill>
          <a:ln w="10160">
            <a:solidFill>
              <a:srgbClr val="FF7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6" y="4535424"/>
            <a:ext cx="8686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7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-0,65%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0976" y="512978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58B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Comprimento = magnitude absoluta · cor indica o sinal · variação conforme registrada na base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973568" y="1828800"/>
            <a:ext cx="3474720" cy="3703320"/>
          </a:xfrm>
          <a:prstGeom prst="roundRect">
            <a:avLst>
              <a:gd name="adj" fmla="val 2632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2121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DA AMOSTRA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57032" y="2560320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2537460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NU: +4,06%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57032" y="3111246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3088386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Visa: +2,16%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57032" y="3662172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3639312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MercadoLibre: +0,81%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57032" y="4213098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190238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Aramco e Reliance negativas no recorte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maiores variações relativas podem gerar uma shortlist de investigação; não equivalem a ranking de qualidade ou valuation.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TECNOLOGIA &amp; GOVERNANÇA DE DADOS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Rankings, ratings e sucesso de agentes são métricas distintas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mistura posições, ratings e percentuais sem descrever integralmente escalas e amostras.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4663440" cy="850392"/>
          </a:xfrm>
          <a:prstGeom prst="roundRect">
            <a:avLst>
              <a:gd name="adj" fmla="val 1075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65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965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17,76%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295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Variação −8,22%; posição informada: 1º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907792"/>
            <a:ext cx="4663440" cy="850392"/>
          </a:xfrm>
          <a:prstGeom prst="roundRect">
            <a:avLst>
              <a:gd name="adj" fmla="val 1075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017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Arena AI · texto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3017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A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3467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também informa 4.892, sem denominação da coluna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3959352"/>
            <a:ext cx="4663440" cy="850392"/>
          </a:xfrm>
          <a:prstGeom prst="roundRect">
            <a:avLst>
              <a:gd name="adj" fmla="val 1075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69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Arena AI · agente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C8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13,93%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3982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Sucesso confirmado; elogios 33,69%; reclamações 9,12%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1856232"/>
            <a:ext cx="5806440" cy="3291840"/>
          </a:xfrm>
          <a:prstGeom prst="roundRect">
            <a:avLst>
              <a:gd name="adj" fmla="val 2778"/>
            </a:avLst>
          </a:prstGeom>
          <a:solidFill>
            <a:srgbClr val="162538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1396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ANTES DE NARRAR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560320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537460"/>
            <a:ext cx="457200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Metadados: unidade, moeda, timestamp, fuso, janela e fonte.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3115818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092958"/>
            <a:ext cx="457200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Qualidade: dados ausentes, outliers, variação e atualização.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671316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648456"/>
            <a:ext cx="457200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Estrutura: valor, unidade, ranking, contexto e fonte em campos próprios.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4226814"/>
            <a:ext cx="100584" cy="100584"/>
          </a:xfrm>
          <a:prstGeom prst="roundRect">
            <a:avLst>
              <a:gd name="adj" fmla="val 90909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203954"/>
            <a:ext cx="457200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Auditoria: conservar o bruto e versionar cada transformação.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715000"/>
            <a:ext cx="10972800" cy="512064"/>
          </a:xfrm>
          <a:prstGeom prst="roundRect">
            <a:avLst>
              <a:gd name="adj" fmla="val 17857"/>
            </a:avLst>
          </a:prstGeom>
          <a:solidFill>
            <a:srgbClr val="112B2C"/>
          </a:solidFill>
          <a:ln w="10160">
            <a:solidFill>
              <a:srgbClr val="2456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5715000"/>
            <a:ext cx="45720" cy="512064"/>
          </a:xfrm>
          <a:prstGeom prst="rect">
            <a:avLst>
              <a:gd name="adj" fmla="val 200000"/>
            </a:avLst>
          </a:prstGeom>
          <a:solidFill>
            <a:srgbClr val="52E0C1"/>
          </a:solidFill>
          <a:ln w="10160">
            <a:solidFill>
              <a:srgbClr val="52E0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7790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IMPLICAÇÃO EXECUTIVA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359152" y="5760720"/>
            <a:ext cx="8942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8E7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 para o pipeline: dicionário de dados, validações automatizadas e proveniência por série.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DECISÕES &amp; WATCHLIST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 o snapshot em um sistema de monitoramento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iteração do projeto Indicadores: consistência antes de mais storytelling.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744200" cy="557784"/>
          </a:xfrm>
          <a:prstGeom prst="roundRect">
            <a:avLst>
              <a:gd name="adj" fmla="val 1639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Mercados globais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87452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VIX · Treasury 10Y · curva 10Y–2Y · HYG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10744200" cy="557784"/>
          </a:xfrm>
          <a:prstGeom prst="roundRect">
            <a:avLst>
              <a:gd name="adj" fmla="val 1639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877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587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Brasil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587752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SELIC/CDI · IPCA/IGP-M · dólar · Ibovespa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209544"/>
            <a:ext cx="10744200" cy="557784"/>
          </a:xfrm>
          <a:prstGeom prst="roundRect">
            <a:avLst>
              <a:gd name="adj" fmla="val 1639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0098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33009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Commodities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30098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 · cobre · BDI · ONI · agrícolas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922776"/>
            <a:ext cx="10744200" cy="557784"/>
          </a:xfrm>
          <a:prstGeom prst="roundRect">
            <a:avLst>
              <a:gd name="adj" fmla="val 1639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1421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Criptoativos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014216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Preço · EMA7 · volume · janela comum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636008"/>
            <a:ext cx="10744200" cy="557784"/>
          </a:xfrm>
          <a:prstGeom prst="roundRect">
            <a:avLst>
              <a:gd name="adj" fmla="val 16393"/>
            </a:avLst>
          </a:prstGeom>
          <a:solidFill>
            <a:srgbClr val="111E2E"/>
          </a:solidFill>
          <a:ln w="10160">
            <a:solidFill>
              <a:srgbClr val="28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274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08760" y="47274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F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&amp; LLM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472744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3B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de qualidade · fonte · timestamp · fórmula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486400"/>
            <a:ext cx="10744200" cy="548640"/>
          </a:xfrm>
          <a:prstGeom prst="roundRect">
            <a:avLst>
              <a:gd name="adj" fmla="val 16667"/>
            </a:avLst>
          </a:prstGeom>
          <a:solidFill>
            <a:srgbClr val="11302D"/>
          </a:solidFill>
          <a:ln w="10160">
            <a:solidFill>
              <a:srgbClr val="2C5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6327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2E0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48840" y="557784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E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Radar útil para investigação; decisão robusta exige série temporal, fontes rastreáveis e validação de unidade/horizonte.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2926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094A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Indicadores /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— Apresentação Executiva</dc:title>
  <dc:subject>Leitura executiva dos indicadores de mercado — snapshot 09/10/2026</dc:subject>
  <dc:creator>Indicadores / Lab</dc:creator>
  <cp:lastModifiedBy>Indicadores / Lab</cp:lastModifiedBy>
  <cp:revision>1</cp:revision>
  <dcterms:created xsi:type="dcterms:W3CDTF">2026-10-13T08:25:24Z</dcterms:created>
  <dcterms:modified xsi:type="dcterms:W3CDTF">2026-10-13T08:25:24Z</dcterms:modified>
</cp:coreProperties>
</file>